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Open Sauce Bold" charset="1" panose="00000800000000000000"/>
      <p:regular r:id="rId23"/>
    </p:embeddedFont>
    <p:embeddedFont>
      <p:font typeface="Canva Sans Bold" charset="1" panose="020B0803030501040103"/>
      <p:regular r:id="rId24"/>
    </p:embeddedFont>
    <p:embeddedFont>
      <p:font typeface="Canva Sans" charset="1" panose="020B05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81262" y="3336608"/>
            <a:ext cx="14263688" cy="348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  <a:spcBef>
                <a:spcPct val="0"/>
              </a:spcBef>
            </a:pPr>
            <a:r>
              <a:rPr lang="en-US" b="true" sz="6600" spc="396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Cloud native temperature excursion and compliance platform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861068" y="8970010"/>
            <a:ext cx="17677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 spc="420">
                <a:solidFill>
                  <a:srgbClr val="31220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5206662" y="0"/>
            <a:ext cx="0" cy="10287000"/>
          </a:xfrm>
          <a:prstGeom prst="line">
            <a:avLst/>
          </a:prstGeom>
          <a:ln cap="flat" w="9525">
            <a:solidFill>
              <a:srgbClr val="31220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693389" y="2271061"/>
          <a:ext cx="9079564" cy="6469641"/>
        </p:xfrm>
        <a:graphic>
          <a:graphicData uri="http://schemas.openxmlformats.org/drawingml/2006/table">
            <a:tbl>
              <a:tblPr/>
              <a:tblGrid>
                <a:gridCol w="4539782"/>
                <a:gridCol w="4539782"/>
              </a:tblGrid>
              <a:tr h="137014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SHAAMAK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Code of Simulation Script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91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RIYA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Kafka with docker,offset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00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RUSSEL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Kubernetes architecture</a:t>
                      </a:r>
                      <a:endParaRPr lang="en-US" sz="1100"/>
                    </a:p>
                    <a:p>
                      <a:pPr algn="ctr">
                        <a:lnSpc>
                          <a:spcPts val="3639"/>
                        </a:lnSpc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of telemetry,excursion</a:t>
                      </a:r>
                    </a:p>
                    <a:p>
                      <a:pPr algn="ctr">
                        <a:lnSpc>
                          <a:spcPts val="3639"/>
                        </a:lnSpc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and alert module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107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RONAK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UI Design Part 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91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PRANAV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UI Design Part 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328375" y="508006"/>
            <a:ext cx="19157579" cy="100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5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Simulation Microservice: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43761" y="2052446"/>
            <a:ext cx="14586803" cy="869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6" indent="-442593" lvl="1">
              <a:lnSpc>
                <a:spcPts val="6928"/>
              </a:lnSpc>
              <a:buFont typeface="Arial"/>
              <a:buChar char="•"/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Massive Concurrency</a:t>
            </a: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(asyncio): Spawns 1,000+ independent, asynchronous background workers to simulate the entire sensor fleet simultaneously without blocking CPU threads.</a:t>
            </a:r>
          </a:p>
          <a:p>
            <a:pPr algn="l">
              <a:lnSpc>
                <a:spcPts val="6928"/>
              </a:lnSpc>
            </a:pPr>
          </a:p>
          <a:p>
            <a:pPr algn="l" marL="885186" indent="-442593" lvl="1">
              <a:lnSpc>
                <a:spcPts val="6928"/>
              </a:lnSpc>
              <a:buFont typeface="Arial"/>
              <a:buChar char="•"/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Integrated Chaos Engine:</a:t>
            </a: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Replaces static "mock data" with a probabilistic state machine to actively simulate hardware malfunctions and temperature spikes.</a:t>
            </a:r>
          </a:p>
          <a:p>
            <a:pPr algn="l">
              <a:lnSpc>
                <a:spcPts val="6928"/>
              </a:lnSpc>
            </a:pPr>
          </a:p>
          <a:p>
            <a:pPr algn="l">
              <a:lnSpc>
                <a:spcPts val="692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56320" y="1062979"/>
            <a:ext cx="14586803" cy="869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6" indent="-442593" lvl="1">
              <a:lnSpc>
                <a:spcPts val="6928"/>
              </a:lnSpc>
              <a:buFont typeface="Arial"/>
              <a:buChar char="•"/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Network Jitter Simulation:</a:t>
            </a: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Replicates physical "dead zones" by buffering telemetry data in local memory, then flushing it to Kafka in sudden bursts to stress test the broker's throughput.</a:t>
            </a:r>
          </a:p>
          <a:p>
            <a:pPr algn="l">
              <a:lnSpc>
                <a:spcPts val="6928"/>
              </a:lnSpc>
            </a:pPr>
          </a:p>
          <a:p>
            <a:pPr algn="l" marL="885186" indent="-442593" lvl="1">
              <a:lnSpc>
                <a:spcPts val="6928"/>
              </a:lnSpc>
              <a:buFont typeface="Arial"/>
              <a:buChar char="•"/>
            </a:pPr>
            <a:r>
              <a:rPr lang="en-US" b="true" sz="40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 Data Loss Shutdown:</a:t>
            </a:r>
            <a:r>
              <a:rPr lang="en-US" sz="4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Implements an asynchronous interception protocol to safely flush all remaining memory buffers to the cloud before the container terminates.</a:t>
            </a:r>
          </a:p>
          <a:p>
            <a:pPr algn="l">
              <a:lnSpc>
                <a:spcPts val="692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2707" y="1121084"/>
            <a:ext cx="12627217" cy="117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to be done next week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66624" y="3448685"/>
            <a:ext cx="14981909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the Shipment API to strictly enforce compliance thresholds</a:t>
            </a:r>
          </a:p>
          <a:p>
            <a:pPr algn="l">
              <a:lnSpc>
                <a:spcPts val="5319"/>
              </a:lnSpc>
            </a:pPr>
          </a:p>
          <a:p>
            <a:pPr algn="l" marL="820417" indent="-410209" lvl="1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Replace the hardcoded simulation variables with live database queries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08006"/>
            <a:ext cx="2296835" cy="936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KAFKA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68150"/>
            <a:ext cx="14586803" cy="778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First, set up Kafka using Docker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created topic telemetry-events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created one producer (Simulation Service)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2 consumers Logging consumer and Detection consumer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2 different group IDs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So both consumers receive same data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Flow: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producer → telemetry-events → logging + detection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2054" y="705485"/>
            <a:ext cx="14586803" cy="958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Detection consumer for processing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Detection consumer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reads data from telemetry-events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 temperature check logic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temperature is high → send data to new topic excursion-events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created topic excursion-events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Then created alert consumer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Alert consumer reads data from excursion-events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Displays alert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6531" y="1762833"/>
            <a:ext cx="14586803" cy="538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 producer and consumer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Stopped consumer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sent new messages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estarted consumer → it continu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 from last message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Changed group_id → consumer read all messages again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2114697" y="1133562"/>
            <a:ext cx="10712505" cy="695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sz="4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Offset in Kafka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2387" y="1700773"/>
            <a:ext cx="12378343" cy="6885453"/>
          </a:xfrm>
          <a:custGeom>
            <a:avLst/>
            <a:gdLst/>
            <a:ahLst/>
            <a:cxnLst/>
            <a:rect r="r" b="b" t="t" l="l"/>
            <a:pathLst>
              <a:path h="6885453" w="12378343">
                <a:moveTo>
                  <a:pt x="0" y="0"/>
                </a:moveTo>
                <a:lnTo>
                  <a:pt x="12378343" y="0"/>
                </a:lnTo>
                <a:lnTo>
                  <a:pt x="12378343" y="6885454"/>
                </a:lnTo>
                <a:lnTo>
                  <a:pt x="0" y="6885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96865" y="1791187"/>
            <a:ext cx="11301259" cy="5735389"/>
          </a:xfrm>
          <a:custGeom>
            <a:avLst/>
            <a:gdLst/>
            <a:ahLst/>
            <a:cxnLst/>
            <a:rect r="r" b="b" t="t" l="l"/>
            <a:pathLst>
              <a:path h="5735389" w="11301259">
                <a:moveTo>
                  <a:pt x="0" y="0"/>
                </a:moveTo>
                <a:lnTo>
                  <a:pt x="11301259" y="0"/>
                </a:lnTo>
                <a:lnTo>
                  <a:pt x="11301259" y="5735389"/>
                </a:lnTo>
                <a:lnTo>
                  <a:pt x="0" y="57353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1685" y="1706785"/>
            <a:ext cx="13153368" cy="6461592"/>
          </a:xfrm>
          <a:custGeom>
            <a:avLst/>
            <a:gdLst/>
            <a:ahLst/>
            <a:cxnLst/>
            <a:rect r="r" b="b" t="t" l="l"/>
            <a:pathLst>
              <a:path h="6461592" w="13153368">
                <a:moveTo>
                  <a:pt x="0" y="0"/>
                </a:moveTo>
                <a:lnTo>
                  <a:pt x="13153368" y="0"/>
                </a:lnTo>
                <a:lnTo>
                  <a:pt x="13153368" y="6461592"/>
                </a:lnTo>
                <a:lnTo>
                  <a:pt x="0" y="6461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2106" y="2202035"/>
            <a:ext cx="12929516" cy="5882930"/>
          </a:xfrm>
          <a:custGeom>
            <a:avLst/>
            <a:gdLst/>
            <a:ahLst/>
            <a:cxnLst/>
            <a:rect r="r" b="b" t="t" l="l"/>
            <a:pathLst>
              <a:path h="5882930" w="12929516">
                <a:moveTo>
                  <a:pt x="0" y="0"/>
                </a:moveTo>
                <a:lnTo>
                  <a:pt x="12929516" y="0"/>
                </a:lnTo>
                <a:lnTo>
                  <a:pt x="12929516" y="5882930"/>
                </a:lnTo>
                <a:lnTo>
                  <a:pt x="0" y="5882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62949" y="3179569"/>
            <a:ext cx="12322701" cy="3927861"/>
          </a:xfrm>
          <a:custGeom>
            <a:avLst/>
            <a:gdLst/>
            <a:ahLst/>
            <a:cxnLst/>
            <a:rect r="r" b="b" t="t" l="l"/>
            <a:pathLst>
              <a:path h="3927861" w="12322701">
                <a:moveTo>
                  <a:pt x="0" y="0"/>
                </a:moveTo>
                <a:lnTo>
                  <a:pt x="12322702" y="0"/>
                </a:lnTo>
                <a:lnTo>
                  <a:pt x="12322702" y="3927862"/>
                </a:lnTo>
                <a:lnTo>
                  <a:pt x="0" y="39278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12707" y="1121084"/>
            <a:ext cx="12627217" cy="116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to be done next week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2467" y="2988625"/>
            <a:ext cx="16885533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ement Telemetry Service to consume data from telemetry-events and store it in database</a:t>
            </a:r>
          </a:p>
          <a:p>
            <a:pPr algn="l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 event flow with better data handling (device-wise processing using keys)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8623" y="1826200"/>
            <a:ext cx="9426177" cy="7835509"/>
          </a:xfrm>
          <a:custGeom>
            <a:avLst/>
            <a:gdLst/>
            <a:ahLst/>
            <a:cxnLst/>
            <a:rect r="r" b="b" t="t" l="l"/>
            <a:pathLst>
              <a:path h="7835509" w="9426177">
                <a:moveTo>
                  <a:pt x="0" y="0"/>
                </a:moveTo>
                <a:lnTo>
                  <a:pt x="9426177" y="0"/>
                </a:lnTo>
                <a:lnTo>
                  <a:pt x="9426177" y="7835510"/>
                </a:lnTo>
                <a:lnTo>
                  <a:pt x="0" y="78355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982" y="69134"/>
            <a:ext cx="17469460" cy="245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312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</a:t>
            </a:r>
            <a:r>
              <a:rPr lang="en-US" b="true" sz="4700">
                <a:solidFill>
                  <a:srgbClr val="312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ubernetes architecture of Telemetry, Excursion, and Alert Modules:</a:t>
            </a:r>
          </a:p>
          <a:p>
            <a:pPr algn="just">
              <a:lnSpc>
                <a:spcPts val="65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233693"/>
            <a:ext cx="8000949" cy="79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312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Namespace in Kubernetes: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343406"/>
            <a:ext cx="12845058" cy="6680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31220C"/>
                </a:solidFill>
                <a:latin typeface="Canva Sans"/>
                <a:ea typeface="Canva Sans"/>
                <a:cs typeface="Canva Sans"/>
                <a:sym typeface="Canva Sans"/>
              </a:rPr>
              <a:t>Namespace is a way to divide a Kubernetes cluster into multiple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31220C"/>
                </a:solidFill>
                <a:latin typeface="Canva Sans"/>
                <a:ea typeface="Canva Sans"/>
                <a:cs typeface="Canva Sans"/>
                <a:sym typeface="Canva Sans"/>
              </a:rPr>
              <a:t> logical environments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312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Benefits of namespace are:</a:t>
            </a:r>
          </a:p>
          <a:p>
            <a:pPr algn="l" marL="712590" indent="-356295" lvl="1">
              <a:lnSpc>
                <a:spcPts val="7888"/>
              </a:lnSpc>
              <a:buFont typeface="Arial"/>
              <a:buChar char="•"/>
            </a:pPr>
            <a:r>
              <a:rPr lang="en-US" b="true" sz="3300">
                <a:solidFill>
                  <a:srgbClr val="31220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00">
                <a:solidFill>
                  <a:srgbClr val="31220C"/>
                </a:solidFill>
                <a:latin typeface="Canva Sans"/>
                <a:ea typeface="Canva Sans"/>
                <a:cs typeface="Canva Sans"/>
                <a:sym typeface="Canva Sans"/>
              </a:rPr>
              <a:t>Separation of Applications</a:t>
            </a:r>
          </a:p>
          <a:p>
            <a:pPr algn="l" marL="712590" indent="-356295" lvl="1">
              <a:lnSpc>
                <a:spcPts val="7888"/>
              </a:lnSpc>
              <a:buFont typeface="Arial"/>
              <a:buChar char="•"/>
            </a:pPr>
            <a:r>
              <a:rPr lang="en-US" sz="3300">
                <a:solidFill>
                  <a:srgbClr val="31220C"/>
                </a:solidFill>
                <a:latin typeface="Canva Sans"/>
                <a:ea typeface="Canva Sans"/>
                <a:cs typeface="Canva Sans"/>
                <a:sym typeface="Canva Sans"/>
              </a:rPr>
              <a:t> Avoid Name Conflicts</a:t>
            </a:r>
          </a:p>
          <a:p>
            <a:pPr algn="l" marL="712590" indent="-356295" lvl="1">
              <a:lnSpc>
                <a:spcPts val="7888"/>
              </a:lnSpc>
              <a:buFont typeface="Arial"/>
              <a:buChar char="•"/>
            </a:pPr>
            <a:r>
              <a:rPr lang="en-US" sz="3300">
                <a:solidFill>
                  <a:srgbClr val="31220C"/>
                </a:solidFill>
                <a:latin typeface="Canva Sans"/>
                <a:ea typeface="Canva Sans"/>
                <a:cs typeface="Canva Sans"/>
                <a:sym typeface="Canva Sans"/>
              </a:rPr>
              <a:t> Environment Separation</a:t>
            </a:r>
          </a:p>
          <a:p>
            <a:pPr algn="l" marL="712590" indent="-356295" lvl="1">
              <a:lnSpc>
                <a:spcPts val="7888"/>
              </a:lnSpc>
              <a:buFont typeface="Arial"/>
              <a:buChar char="•"/>
            </a:pPr>
            <a:r>
              <a:rPr lang="en-US" sz="3300">
                <a:solidFill>
                  <a:srgbClr val="31220C"/>
                </a:solidFill>
                <a:latin typeface="Canva Sans"/>
                <a:ea typeface="Canva Sans"/>
                <a:cs typeface="Canva Sans"/>
                <a:sym typeface="Canva Sans"/>
              </a:rPr>
              <a:t> Resource Control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6368" y="588334"/>
            <a:ext cx="7974330" cy="79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b="true" sz="4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 to be done next week: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944" y="1814587"/>
            <a:ext cx="15903060" cy="146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127" indent="-421063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Includes deploying these modules using Kubernetes .</a:t>
            </a:r>
          </a:p>
          <a:p>
            <a:pPr algn="l" marL="842127" indent="-421063" lvl="1">
              <a:lnSpc>
                <a:spcPts val="7137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To integrate the remaining microservices into this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DAHGX-IJyuk</dc:identifier>
  <dcterms:modified xsi:type="dcterms:W3CDTF">2011-08-01T06:04:30Z</dcterms:modified>
  <cp:revision>1</cp:revision>
  <dc:title> System Flow</dc:title>
</cp:coreProperties>
</file>